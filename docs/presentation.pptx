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Libre Franklin Light"/>
      <p:regular r:id="rId17"/>
      <p:bold r:id="rId18"/>
      <p:italic r:id="rId19"/>
      <p:boldItalic r:id="rId20"/>
    </p:embeddedFont>
    <p:embeddedFont>
      <p:font typeface="Libre Baskerville"/>
      <p:regular r:id="rId21"/>
      <p:bold r:id="rId22"/>
      <p: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Light-boldItalic.fntdata"/><Relationship Id="rId11" Type="http://schemas.openxmlformats.org/officeDocument/2006/relationships/slide" Target="slides/slide6.xml"/><Relationship Id="rId22" Type="http://schemas.openxmlformats.org/officeDocument/2006/relationships/font" Target="fonts/LibreBaskerville-bold.fntdata"/><Relationship Id="rId10" Type="http://schemas.openxmlformats.org/officeDocument/2006/relationships/slide" Target="slides/slide5.xml"/><Relationship Id="rId21" Type="http://schemas.openxmlformats.org/officeDocument/2006/relationships/font" Target="fonts/LibreBaskervill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ibreBaskerville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ibreFranklinLigh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ibreFranklinLight-italic.fntdata"/><Relationship Id="rId6" Type="http://schemas.openxmlformats.org/officeDocument/2006/relationships/slide" Target="slides/slide1.xml"/><Relationship Id="rId18" Type="http://schemas.openxmlformats.org/officeDocument/2006/relationships/font" Target="fonts/LibreFranklin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pic that shows data analysis </a:t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b5993f1d7_2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b5993f1d7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emg sensors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imu sensors </a:t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b5cc4b2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7b5cc4b23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E7LRYGITUa6vUY708wuJyT9SfBJfiLhI/view" TargetMode="External"/><Relationship Id="rId4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61200" y="3024000"/>
            <a:ext cx="16965600" cy="42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7300">
                <a:solidFill>
                  <a:srgbClr val="014E97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Exercise form validator</a:t>
            </a:r>
            <a:endParaRPr b="1" sz="7300">
              <a:solidFill>
                <a:srgbClr val="014E97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100">
                <a:solidFill>
                  <a:srgbClr val="014E97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Smarter Therapy, One Move at a Time.</a:t>
            </a:r>
            <a:endParaRPr sz="3499">
              <a:solidFill>
                <a:srgbClr val="014E97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85" name="Google Shape;85;p13"/>
          <p:cNvCxnSpPr/>
          <p:nvPr/>
        </p:nvCxnSpPr>
        <p:spPr>
          <a:xfrm>
            <a:off x="4571844" y="5143501"/>
            <a:ext cx="9144300" cy="0"/>
          </a:xfrm>
          <a:prstGeom prst="straightConnector1">
            <a:avLst/>
          </a:prstGeom>
          <a:noFill/>
          <a:ln cap="flat" cmpd="sng" w="38100">
            <a:solidFill>
              <a:srgbClr val="014E9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3"/>
          <p:cNvSpPr/>
          <p:nvPr/>
        </p:nvSpPr>
        <p:spPr>
          <a:xfrm>
            <a:off x="14918823" y="-1636200"/>
            <a:ext cx="4807774" cy="3935063"/>
          </a:xfrm>
          <a:custGeom>
            <a:rect b="b" l="l" r="r" t="t"/>
            <a:pathLst>
              <a:path extrusionOk="0" h="5372100" w="6326018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-2278047" y="7074505"/>
            <a:ext cx="6499983" cy="5519833"/>
          </a:xfrm>
          <a:custGeom>
            <a:rect b="b" l="l" r="r" t="t"/>
            <a:pathLst>
              <a:path extrusionOk="0" h="5372100" w="6326018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>
            <a:off x="13213100" y="8688300"/>
            <a:ext cx="6231128" cy="5318379"/>
          </a:xfrm>
          <a:custGeom>
            <a:rect b="b" l="l" r="r" t="t"/>
            <a:pathLst>
              <a:path extrusionOk="0" h="5372100" w="6326018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sp>
        <p:nvSpPr>
          <p:cNvPr id="89" name="Google Shape;89;p13"/>
          <p:cNvSpPr/>
          <p:nvPr/>
        </p:nvSpPr>
        <p:spPr>
          <a:xfrm>
            <a:off x="-1115650" y="-969450"/>
            <a:ext cx="4175172" cy="3397853"/>
          </a:xfrm>
          <a:custGeom>
            <a:rect b="b" l="l" r="r" t="t"/>
            <a:pathLst>
              <a:path extrusionOk="0" h="5372100" w="6326018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E9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8725552" y="1019175"/>
            <a:ext cx="9062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WHY?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428950" y="3857625"/>
            <a:ext cx="10359300" cy="54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>
                <a:solidFill>
                  <a:srgbClr val="FFFFFF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Physiotherapy and guided exercise programs rely heavily on correct movement patterns to ensure recovery, prevent </a:t>
            </a:r>
            <a:r>
              <a:rPr lang="en-US" sz="3399">
                <a:solidFill>
                  <a:srgbClr val="FFFFFF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re-injury</a:t>
            </a:r>
            <a:r>
              <a:rPr lang="en-US" sz="3399">
                <a:solidFill>
                  <a:srgbClr val="FFFFFF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, and improve performance. However, continuous monitoring by practitioners is often impractical, leaving patients vulnerable to poor form and ineffective outcomes. Kinesis addresses this gap by introducing a compact, wearable, edge-AI powered prototype that validates exercise performance in real time.</a:t>
            </a:r>
            <a:endParaRPr sz="3399">
              <a:solidFill>
                <a:srgbClr val="FFFFFF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99">
              <a:solidFill>
                <a:srgbClr val="FFFFFF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99">
              <a:solidFill>
                <a:srgbClr val="FFFFFF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cxnSp>
        <p:nvCxnSpPr>
          <p:cNvPr id="96" name="Google Shape;96;p14"/>
          <p:cNvCxnSpPr/>
          <p:nvPr/>
        </p:nvCxnSpPr>
        <p:spPr>
          <a:xfrm>
            <a:off x="8832825" y="2154350"/>
            <a:ext cx="9178500" cy="192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7" name="Google Shape;97;p14" title="dsb.jpeg"/>
          <p:cNvPicPr preferRelativeResize="0"/>
          <p:nvPr/>
        </p:nvPicPr>
        <p:blipFill rotWithShape="1">
          <a:blip r:embed="rId3">
            <a:alphaModFix/>
          </a:blip>
          <a:srcRect b="10815" l="0" r="3409" t="12696"/>
          <a:stretch/>
        </p:blipFill>
        <p:spPr>
          <a:xfrm>
            <a:off x="1522700" y="996088"/>
            <a:ext cx="4933475" cy="8294826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" name="Google Shape;98;p14"/>
          <p:cNvSpPr/>
          <p:nvPr/>
        </p:nvSpPr>
        <p:spPr>
          <a:xfrm>
            <a:off x="6960525" y="2571750"/>
            <a:ext cx="11050800" cy="68799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994E5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15"/>
          <p:cNvGrpSpPr/>
          <p:nvPr/>
        </p:nvGrpSpPr>
        <p:grpSpPr>
          <a:xfrm>
            <a:off x="9401850" y="1007925"/>
            <a:ext cx="1604305" cy="1397500"/>
            <a:chOff x="0" y="-9525"/>
            <a:chExt cx="812800" cy="708025"/>
          </a:xfrm>
        </p:grpSpPr>
        <p:sp>
          <p:nvSpPr>
            <p:cNvPr id="104" name="Google Shape;104;p15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66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05" name="Google Shape;105;p15"/>
            <p:cNvSpPr txBox="1"/>
            <p:nvPr/>
          </p:nvSpPr>
          <p:spPr>
            <a:xfrm>
              <a:off x="114300" y="-9525"/>
              <a:ext cx="5842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01.</a:t>
              </a:r>
              <a:endParaRPr/>
            </a:p>
          </p:txBody>
        </p:sp>
      </p:grpSp>
      <p:grpSp>
        <p:nvGrpSpPr>
          <p:cNvPr id="106" name="Google Shape;106;p15"/>
          <p:cNvGrpSpPr/>
          <p:nvPr/>
        </p:nvGrpSpPr>
        <p:grpSpPr>
          <a:xfrm>
            <a:off x="9401850" y="3867025"/>
            <a:ext cx="1604305" cy="1397500"/>
            <a:chOff x="0" y="-9525"/>
            <a:chExt cx="812800" cy="708025"/>
          </a:xfrm>
        </p:grpSpPr>
        <p:sp>
          <p:nvSpPr>
            <p:cNvPr id="107" name="Google Shape;107;p15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66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08" name="Google Shape;108;p15"/>
            <p:cNvSpPr txBox="1"/>
            <p:nvPr/>
          </p:nvSpPr>
          <p:spPr>
            <a:xfrm>
              <a:off x="114300" y="-9525"/>
              <a:ext cx="5842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02.</a:t>
              </a:r>
              <a:endParaRPr/>
            </a:p>
          </p:txBody>
        </p:sp>
      </p:grpSp>
      <p:grpSp>
        <p:nvGrpSpPr>
          <p:cNvPr id="109" name="Google Shape;109;p15"/>
          <p:cNvGrpSpPr/>
          <p:nvPr/>
        </p:nvGrpSpPr>
        <p:grpSpPr>
          <a:xfrm>
            <a:off x="9401846" y="6833858"/>
            <a:ext cx="1604305" cy="1397450"/>
            <a:chOff x="193472" y="-238075"/>
            <a:chExt cx="812800" cy="708000"/>
          </a:xfrm>
        </p:grpSpPr>
        <p:sp>
          <p:nvSpPr>
            <p:cNvPr id="110" name="Google Shape;110;p15"/>
            <p:cNvSpPr/>
            <p:nvPr/>
          </p:nvSpPr>
          <p:spPr>
            <a:xfrm>
              <a:off x="193472" y="-233313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66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1" name="Google Shape;111;p15"/>
            <p:cNvSpPr txBox="1"/>
            <p:nvPr/>
          </p:nvSpPr>
          <p:spPr>
            <a:xfrm>
              <a:off x="307823" y="-238075"/>
              <a:ext cx="5841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03.</a:t>
              </a:r>
              <a:endParaRPr/>
            </a:p>
          </p:txBody>
        </p:sp>
      </p:grpSp>
      <p:grpSp>
        <p:nvGrpSpPr>
          <p:cNvPr id="112" name="Google Shape;112;p15"/>
          <p:cNvGrpSpPr/>
          <p:nvPr/>
        </p:nvGrpSpPr>
        <p:grpSpPr>
          <a:xfrm>
            <a:off x="1733954" y="-518608"/>
            <a:ext cx="6914773" cy="10224009"/>
            <a:chOff x="0" y="-47625"/>
            <a:chExt cx="635000" cy="938895"/>
          </a:xfrm>
        </p:grpSpPr>
        <p:sp>
          <p:nvSpPr>
            <p:cNvPr id="113" name="Google Shape;113;p15"/>
            <p:cNvSpPr/>
            <p:nvPr/>
          </p:nvSpPr>
          <p:spPr>
            <a:xfrm>
              <a:off x="0" y="0"/>
              <a:ext cx="606628" cy="891270"/>
            </a:xfrm>
            <a:custGeom>
              <a:rect b="b" l="l" r="r" t="t"/>
              <a:pathLst>
                <a:path extrusionOk="0" h="891270" w="606628">
                  <a:moveTo>
                    <a:pt x="606628" y="0"/>
                  </a:moveTo>
                  <a:lnTo>
                    <a:pt x="606628" y="776970"/>
                  </a:lnTo>
                  <a:lnTo>
                    <a:pt x="303314" y="891270"/>
                  </a:lnTo>
                  <a:lnTo>
                    <a:pt x="0" y="776970"/>
                  </a:lnTo>
                  <a:lnTo>
                    <a:pt x="0" y="0"/>
                  </a:lnTo>
                  <a:lnTo>
                    <a:pt x="606628" y="0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114" name="Google Shape;114;p15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15"/>
          <p:cNvSpPr txBox="1"/>
          <p:nvPr/>
        </p:nvSpPr>
        <p:spPr>
          <a:xfrm>
            <a:off x="11579200" y="4311825"/>
            <a:ext cx="5841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Generic Programming</a:t>
            </a:r>
            <a:endParaRPr b="1" sz="3300"/>
          </a:p>
        </p:txBody>
      </p:sp>
      <p:sp>
        <p:nvSpPr>
          <p:cNvPr id="116" name="Google Shape;116;p15"/>
          <p:cNvSpPr txBox="1"/>
          <p:nvPr/>
        </p:nvSpPr>
        <p:spPr>
          <a:xfrm>
            <a:off x="11579200" y="1220125"/>
            <a:ext cx="45852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Focuses on Metrics,</a:t>
            </a:r>
            <a:endParaRPr b="1" sz="3300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Not Technique</a:t>
            </a:r>
            <a:endParaRPr b="1" sz="3300"/>
          </a:p>
        </p:txBody>
      </p:sp>
      <p:sp>
        <p:nvSpPr>
          <p:cNvPr id="117" name="Google Shape;117;p15"/>
          <p:cNvSpPr txBox="1"/>
          <p:nvPr/>
        </p:nvSpPr>
        <p:spPr>
          <a:xfrm>
            <a:off x="11723850" y="7009375"/>
            <a:ext cx="45852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 Real-Time </a:t>
            </a:r>
            <a:endParaRPr b="1" sz="3300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Injury Prevention</a:t>
            </a:r>
            <a:endParaRPr b="1" sz="3300"/>
          </a:p>
        </p:txBody>
      </p:sp>
      <p:sp>
        <p:nvSpPr>
          <p:cNvPr id="118" name="Google Shape;118;p15"/>
          <p:cNvSpPr txBox="1"/>
          <p:nvPr/>
        </p:nvSpPr>
        <p:spPr>
          <a:xfrm>
            <a:off x="1875760" y="3349732"/>
            <a:ext cx="63222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Current drawbacks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E97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/>
        </p:nvSpPr>
        <p:spPr>
          <a:xfrm>
            <a:off x="633952" y="929005"/>
            <a:ext cx="11364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9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</a:t>
            </a:r>
            <a:r>
              <a:rPr b="0" i="0" lang="en-US" sz="6299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lang="en-US" sz="629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DEA</a:t>
            </a:r>
            <a:endParaRPr sz="2200"/>
          </a:p>
        </p:txBody>
      </p:sp>
      <p:sp>
        <p:nvSpPr>
          <p:cNvPr id="124" name="Google Shape;124;p16"/>
          <p:cNvSpPr/>
          <p:nvPr/>
        </p:nvSpPr>
        <p:spPr>
          <a:xfrm>
            <a:off x="-640105" y="8509524"/>
            <a:ext cx="2172366" cy="1844789"/>
          </a:xfrm>
          <a:custGeom>
            <a:rect b="b" l="l" r="r" t="t"/>
            <a:pathLst>
              <a:path extrusionOk="0" h="5372100" w="6326018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pic>
        <p:nvPicPr>
          <p:cNvPr descr="a chimpanzee is scratching his head with his finger in front of a light bulb (Provided by Tenor)"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250" y="2339975"/>
            <a:ext cx="6691999" cy="6678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9027925" y="2196700"/>
            <a:ext cx="7902900" cy="6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9289525" y="1788450"/>
            <a:ext cx="7641300" cy="6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device integrates Electromyography (EMG) sensors and an Inertial Measurement Unit (IMU) to capture both muscle activation and limb orientation during wrist curl exercises.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is processed locally on an ESP32 microcontroller running an Edge Impulse machine learning model to classify movements into four categories: good form, bad form, rest, and uncertainty.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Real-time feedback is delivered, enabling users to self-correct without practitioner supervision.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0" y="641750"/>
            <a:ext cx="14630400" cy="97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0" y="428625"/>
            <a:ext cx="18288000" cy="17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 of Working</a:t>
            </a:r>
            <a:endParaRPr b="1" sz="9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477750" y="321450"/>
            <a:ext cx="17332500" cy="9644100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8"/>
          <p:cNvGrpSpPr/>
          <p:nvPr/>
        </p:nvGrpSpPr>
        <p:grpSpPr>
          <a:xfrm>
            <a:off x="1783627" y="2694046"/>
            <a:ext cx="6737137" cy="7131891"/>
            <a:chOff x="0" y="-47625"/>
            <a:chExt cx="812800" cy="860425"/>
          </a:xfrm>
        </p:grpSpPr>
        <p:sp>
          <p:nvSpPr>
            <p:cNvPr id="140" name="Google Shape;140;p18"/>
            <p:cNvSpPr/>
            <p:nvPr/>
          </p:nvSpPr>
          <p:spPr>
            <a:xfrm>
              <a:off x="0" y="0"/>
              <a:ext cx="812800" cy="372328"/>
            </a:xfrm>
            <a:custGeom>
              <a:rect b="b" l="l" r="r" t="t"/>
              <a:pathLst>
                <a:path extrusionOk="0" h="37232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72328"/>
                  </a:lnTo>
                  <a:lnTo>
                    <a:pt x="0" y="372328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141" name="Google Shape;141;p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18"/>
          <p:cNvSpPr txBox="1"/>
          <p:nvPr/>
        </p:nvSpPr>
        <p:spPr>
          <a:xfrm>
            <a:off x="2860146" y="3822407"/>
            <a:ext cx="458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EMG </a:t>
            </a:r>
            <a:r>
              <a:rPr lang="en-US" sz="32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Sensor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2860146" y="4850925"/>
            <a:ext cx="45840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>
                <a:solidFill>
                  <a:srgbClr val="FFFFFF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Measures the electrical activity of muscles when they contract.</a:t>
            </a:r>
            <a:endParaRPr/>
          </a:p>
        </p:txBody>
      </p:sp>
      <p:grpSp>
        <p:nvGrpSpPr>
          <p:cNvPr id="144" name="Google Shape;144;p18"/>
          <p:cNvGrpSpPr/>
          <p:nvPr/>
        </p:nvGrpSpPr>
        <p:grpSpPr>
          <a:xfrm>
            <a:off x="9767225" y="2694101"/>
            <a:ext cx="6489802" cy="7131891"/>
            <a:chOff x="0" y="-47625"/>
            <a:chExt cx="812800" cy="860425"/>
          </a:xfrm>
        </p:grpSpPr>
        <p:sp>
          <p:nvSpPr>
            <p:cNvPr id="145" name="Google Shape;145;p18"/>
            <p:cNvSpPr/>
            <p:nvPr/>
          </p:nvSpPr>
          <p:spPr>
            <a:xfrm>
              <a:off x="0" y="0"/>
              <a:ext cx="812800" cy="372320"/>
            </a:xfrm>
            <a:custGeom>
              <a:rect b="b" l="l" r="r" t="t"/>
              <a:pathLst>
                <a:path extrusionOk="0" h="37232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72320"/>
                  </a:lnTo>
                  <a:lnTo>
                    <a:pt x="0" y="372320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146" name="Google Shape;146;p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18"/>
          <p:cNvSpPr txBox="1"/>
          <p:nvPr/>
        </p:nvSpPr>
        <p:spPr>
          <a:xfrm>
            <a:off x="10565000" y="3822482"/>
            <a:ext cx="458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IMU Sensor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10565000" y="4850925"/>
            <a:ext cx="49587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>
                <a:solidFill>
                  <a:srgbClr val="FFFFFF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 Tracks motion, orientation, and acceleration of body parts.</a:t>
            </a:r>
            <a:endParaRPr/>
          </a:p>
        </p:txBody>
      </p:sp>
      <p:cxnSp>
        <p:nvCxnSpPr>
          <p:cNvPr id="149" name="Google Shape;149;p18"/>
          <p:cNvCxnSpPr/>
          <p:nvPr/>
        </p:nvCxnSpPr>
        <p:spPr>
          <a:xfrm rot="-16227">
            <a:off x="3150121" y="4582962"/>
            <a:ext cx="4004145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18"/>
          <p:cNvCxnSpPr/>
          <p:nvPr/>
        </p:nvCxnSpPr>
        <p:spPr>
          <a:xfrm rot="-16227">
            <a:off x="10854930" y="4583012"/>
            <a:ext cx="4004145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1" name="Google Shape;151;p18"/>
          <p:cNvPicPr preferRelativeResize="0"/>
          <p:nvPr/>
        </p:nvPicPr>
        <p:blipFill rotWithShape="1">
          <a:blip r:embed="rId3">
            <a:alphaModFix/>
          </a:blip>
          <a:srcRect b="13329" l="0" r="7097" t="19789"/>
          <a:stretch/>
        </p:blipFill>
        <p:spPr>
          <a:xfrm>
            <a:off x="2368463" y="6211725"/>
            <a:ext cx="5330250" cy="383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 rotWithShape="1">
          <a:blip r:embed="rId4">
            <a:alphaModFix/>
          </a:blip>
          <a:srcRect b="15457" l="0" r="0" t="17129"/>
          <a:stretch/>
        </p:blipFill>
        <p:spPr>
          <a:xfrm>
            <a:off x="10843788" y="6614225"/>
            <a:ext cx="4584000" cy="25185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8"/>
          <p:cNvGrpSpPr/>
          <p:nvPr/>
        </p:nvGrpSpPr>
        <p:grpSpPr>
          <a:xfrm>
            <a:off x="5818300" y="657099"/>
            <a:ext cx="6737137" cy="1590510"/>
            <a:chOff x="0" y="0"/>
            <a:chExt cx="812800" cy="387343"/>
          </a:xfrm>
        </p:grpSpPr>
        <p:sp>
          <p:nvSpPr>
            <p:cNvPr id="154" name="Google Shape;154;p18"/>
            <p:cNvSpPr/>
            <p:nvPr/>
          </p:nvSpPr>
          <p:spPr>
            <a:xfrm>
              <a:off x="0" y="0"/>
              <a:ext cx="812800" cy="372328"/>
            </a:xfrm>
            <a:custGeom>
              <a:rect b="b" l="l" r="r" t="t"/>
              <a:pathLst>
                <a:path extrusionOk="0" h="37232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72328"/>
                  </a:lnTo>
                  <a:lnTo>
                    <a:pt x="0" y="372328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155" name="Google Shape;155;p18"/>
            <p:cNvSpPr txBox="1"/>
            <p:nvPr/>
          </p:nvSpPr>
          <p:spPr>
            <a:xfrm>
              <a:off x="51" y="15043"/>
              <a:ext cx="812700" cy="3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SENSORS</a:t>
              </a:r>
              <a:endParaRPr b="0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E97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633952" y="929005"/>
            <a:ext cx="113643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DEMO: 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16207359" y="-909100"/>
            <a:ext cx="3147194" cy="2672620"/>
          </a:xfrm>
          <a:custGeom>
            <a:rect b="b" l="l" r="r" t="t"/>
            <a:pathLst>
              <a:path extrusionOk="0" h="5372100" w="6326018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sp>
        <p:nvSpPr>
          <p:cNvPr id="162" name="Google Shape;162;p19"/>
          <p:cNvSpPr/>
          <p:nvPr/>
        </p:nvSpPr>
        <p:spPr>
          <a:xfrm>
            <a:off x="-640105" y="8509524"/>
            <a:ext cx="2166661" cy="1839944"/>
          </a:xfrm>
          <a:custGeom>
            <a:rect b="b" l="l" r="r" t="t"/>
            <a:pathLst>
              <a:path extrusionOk="0" h="5372100" w="6326018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pic>
        <p:nvPicPr>
          <p:cNvPr id="163" name="Google Shape;163;p19" title="fittech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1000" y="343225"/>
            <a:ext cx="6745975" cy="9748298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994E5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1115494" y="4086027"/>
            <a:ext cx="6248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85">
                <a:solidFill>
                  <a:srgbClr val="FFFFFF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Based on hand movement, the display shows the probability of</a:t>
            </a:r>
            <a:r>
              <a:rPr lang="en-US" sz="2985">
                <a:solidFill>
                  <a:srgbClr val="FFFFFF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  if it is a good form, bad form, or if the hand is at rest. </a:t>
            </a:r>
            <a:endParaRPr sz="1800"/>
          </a:p>
        </p:txBody>
      </p:sp>
      <p:sp>
        <p:nvSpPr>
          <p:cNvPr id="169" name="Google Shape;169;p20"/>
          <p:cNvSpPr txBox="1"/>
          <p:nvPr/>
        </p:nvSpPr>
        <p:spPr>
          <a:xfrm>
            <a:off x="1028764" y="1813830"/>
            <a:ext cx="7647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Display</a:t>
            </a:r>
            <a:endParaRPr/>
          </a:p>
        </p:txBody>
      </p:sp>
      <p:cxnSp>
        <p:nvCxnSpPr>
          <p:cNvPr id="170" name="Google Shape;170;p20"/>
          <p:cNvCxnSpPr/>
          <p:nvPr/>
        </p:nvCxnSpPr>
        <p:spPr>
          <a:xfrm rot="-11526">
            <a:off x="40" y="3367261"/>
            <a:ext cx="8479744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1" name="Google Shape;171;p20" title="abc.jpeg"/>
          <p:cNvPicPr preferRelativeResize="0"/>
          <p:nvPr/>
        </p:nvPicPr>
        <p:blipFill rotWithShape="1">
          <a:blip r:embed="rId3">
            <a:alphaModFix/>
          </a:blip>
          <a:srcRect b="35420" l="0" r="0" t="9562"/>
          <a:stretch/>
        </p:blipFill>
        <p:spPr>
          <a:xfrm>
            <a:off x="9311275" y="710413"/>
            <a:ext cx="7475950" cy="914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E9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/>
        </p:nvSpPr>
        <p:spPr>
          <a:xfrm>
            <a:off x="1093503" y="6141373"/>
            <a:ext cx="106668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FFFFFF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Sustainable</a:t>
            </a:r>
            <a:r>
              <a:rPr lang="en-US" sz="7200">
                <a:solidFill>
                  <a:srgbClr val="FFFFFF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 Development Goals</a:t>
            </a:r>
            <a:endParaRPr sz="7200"/>
          </a:p>
        </p:txBody>
      </p:sp>
      <p:sp>
        <p:nvSpPr>
          <p:cNvPr id="177" name="Google Shape;177;p21"/>
          <p:cNvSpPr/>
          <p:nvPr/>
        </p:nvSpPr>
        <p:spPr>
          <a:xfrm>
            <a:off x="-427906" y="-382448"/>
            <a:ext cx="2329017" cy="2016929"/>
          </a:xfrm>
          <a:custGeom>
            <a:rect b="b" l="l" r="r" t="t"/>
            <a:pathLst>
              <a:path extrusionOk="0" h="5499100" w="635000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sp>
        <p:nvSpPr>
          <p:cNvPr id="178" name="Google Shape;178;p21"/>
          <p:cNvSpPr/>
          <p:nvPr/>
        </p:nvSpPr>
        <p:spPr>
          <a:xfrm>
            <a:off x="-40266" y="1942876"/>
            <a:ext cx="1941377" cy="1681232"/>
          </a:xfrm>
          <a:custGeom>
            <a:rect b="b" l="l" r="r" t="t"/>
            <a:pathLst>
              <a:path extrusionOk="0" h="5499100" w="635000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sp>
        <p:nvSpPr>
          <p:cNvPr id="179" name="Google Shape;179;p21"/>
          <p:cNvSpPr/>
          <p:nvPr/>
        </p:nvSpPr>
        <p:spPr>
          <a:xfrm>
            <a:off x="1515702" y="970228"/>
            <a:ext cx="1534070" cy="1328505"/>
          </a:xfrm>
          <a:custGeom>
            <a:rect b="b" l="l" r="r" t="t"/>
            <a:pathLst>
              <a:path extrusionOk="0" h="5499100" w="635000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pic>
        <p:nvPicPr>
          <p:cNvPr id="180" name="Google Shape;1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8363" y="643925"/>
            <a:ext cx="4279125" cy="427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6074" y="643925"/>
            <a:ext cx="4279125" cy="427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73775" y="643937"/>
            <a:ext cx="4279125" cy="427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73775" y="5220864"/>
            <a:ext cx="4279125" cy="427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E97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2"/>
          <p:cNvGrpSpPr/>
          <p:nvPr/>
        </p:nvGrpSpPr>
        <p:grpSpPr>
          <a:xfrm>
            <a:off x="8900721" y="-1348782"/>
            <a:ext cx="13205399" cy="12122144"/>
            <a:chOff x="0" y="-47625"/>
            <a:chExt cx="812800" cy="746125"/>
          </a:xfrm>
        </p:grpSpPr>
        <p:sp>
          <p:nvSpPr>
            <p:cNvPr id="189" name="Google Shape;189;p22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190" name="Google Shape;190;p22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22"/>
          <p:cNvGrpSpPr/>
          <p:nvPr/>
        </p:nvGrpSpPr>
        <p:grpSpPr>
          <a:xfrm>
            <a:off x="8635925" y="236474"/>
            <a:ext cx="9278112" cy="10050538"/>
            <a:chOff x="0" y="-47625"/>
            <a:chExt cx="812800" cy="860425"/>
          </a:xfrm>
        </p:grpSpPr>
        <p:sp>
          <p:nvSpPr>
            <p:cNvPr id="192" name="Google Shape;192;p22"/>
            <p:cNvSpPr/>
            <p:nvPr/>
          </p:nvSpPr>
          <p:spPr>
            <a:xfrm>
              <a:off x="0" y="0"/>
              <a:ext cx="812800" cy="201573"/>
            </a:xfrm>
            <a:custGeom>
              <a:rect b="b" l="l" r="r" t="t"/>
              <a:pathLst>
                <a:path extrusionOk="0" h="20157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1573"/>
                  </a:lnTo>
                  <a:lnTo>
                    <a:pt x="0" y="201573"/>
                  </a:lnTo>
                  <a:close/>
                </a:path>
              </a:pathLst>
            </a:custGeom>
            <a:solidFill>
              <a:srgbClr val="2994E5"/>
            </a:solidFill>
            <a:ln>
              <a:noFill/>
            </a:ln>
          </p:spPr>
        </p:sp>
        <p:sp>
          <p:nvSpPr>
            <p:cNvPr id="193" name="Google Shape;193;p22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22"/>
          <p:cNvSpPr txBox="1"/>
          <p:nvPr/>
        </p:nvSpPr>
        <p:spPr>
          <a:xfrm>
            <a:off x="307140" y="8085511"/>
            <a:ext cx="68289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9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Future Scopes</a:t>
            </a:r>
            <a:endParaRPr b="1"/>
          </a:p>
        </p:txBody>
      </p:sp>
      <p:sp>
        <p:nvSpPr>
          <p:cNvPr id="195" name="Google Shape;195;p22"/>
          <p:cNvSpPr txBox="1"/>
          <p:nvPr/>
        </p:nvSpPr>
        <p:spPr>
          <a:xfrm>
            <a:off x="9071650" y="1051050"/>
            <a:ext cx="8577600" cy="3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We would like to expand our vision to a full fledged </a:t>
            </a:r>
            <a:r>
              <a:rPr b="1" lang="en-US" sz="2900" u="sng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smart clothing</a:t>
            </a:r>
            <a:r>
              <a:rPr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that tracks the posture and movement of all body parts</a:t>
            </a:r>
            <a:endParaRPr sz="29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9010748" y="8289573"/>
            <a:ext cx="39987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Add a main point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7443199" y="5289232"/>
            <a:ext cx="39987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Add a main point</a:t>
            </a:r>
            <a:endParaRPr/>
          </a:p>
        </p:txBody>
      </p:sp>
      <p:grpSp>
        <p:nvGrpSpPr>
          <p:cNvPr id="198" name="Google Shape;198;p22"/>
          <p:cNvGrpSpPr/>
          <p:nvPr/>
        </p:nvGrpSpPr>
        <p:grpSpPr>
          <a:xfrm>
            <a:off x="7123300" y="3791325"/>
            <a:ext cx="9278112" cy="9821466"/>
            <a:chOff x="0" y="-47625"/>
            <a:chExt cx="812800" cy="860400"/>
          </a:xfrm>
        </p:grpSpPr>
        <p:sp>
          <p:nvSpPr>
            <p:cNvPr id="199" name="Google Shape;199;p22"/>
            <p:cNvSpPr/>
            <p:nvPr/>
          </p:nvSpPr>
          <p:spPr>
            <a:xfrm>
              <a:off x="0" y="0"/>
              <a:ext cx="812800" cy="208979"/>
            </a:xfrm>
            <a:custGeom>
              <a:rect b="b" l="l" r="r" t="t"/>
              <a:pathLst>
                <a:path extrusionOk="0" h="20897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8979"/>
                  </a:lnTo>
                  <a:lnTo>
                    <a:pt x="0" y="208979"/>
                  </a:lnTo>
                  <a:close/>
                </a:path>
              </a:pathLst>
            </a:custGeom>
            <a:solidFill>
              <a:srgbClr val="2994E5"/>
            </a:solidFill>
            <a:ln>
              <a:noFill/>
            </a:ln>
          </p:spPr>
        </p:sp>
        <p:sp>
          <p:nvSpPr>
            <p:cNvPr id="200" name="Google Shape;200;p22"/>
            <p:cNvSpPr txBox="1"/>
            <p:nvPr/>
          </p:nvSpPr>
          <p:spPr>
            <a:xfrm>
              <a:off x="0" y="-47625"/>
              <a:ext cx="8127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22"/>
          <p:cNvSpPr txBox="1"/>
          <p:nvPr/>
        </p:nvSpPr>
        <p:spPr>
          <a:xfrm>
            <a:off x="13357664" y="8096216"/>
            <a:ext cx="42915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FFFFFF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Briefly elaborate on what you want to discuss. </a:t>
            </a:r>
            <a:endParaRPr/>
          </a:p>
        </p:txBody>
      </p:sp>
      <p:grpSp>
        <p:nvGrpSpPr>
          <p:cNvPr id="202" name="Google Shape;202;p22"/>
          <p:cNvGrpSpPr/>
          <p:nvPr/>
        </p:nvGrpSpPr>
        <p:grpSpPr>
          <a:xfrm>
            <a:off x="8635921" y="6840481"/>
            <a:ext cx="9278112" cy="9821466"/>
            <a:chOff x="0" y="-47625"/>
            <a:chExt cx="812800" cy="860400"/>
          </a:xfrm>
        </p:grpSpPr>
        <p:sp>
          <p:nvSpPr>
            <p:cNvPr id="203" name="Google Shape;203;p22"/>
            <p:cNvSpPr/>
            <p:nvPr/>
          </p:nvSpPr>
          <p:spPr>
            <a:xfrm>
              <a:off x="0" y="0"/>
              <a:ext cx="812800" cy="201199"/>
            </a:xfrm>
            <a:custGeom>
              <a:rect b="b" l="l" r="r" t="t"/>
              <a:pathLst>
                <a:path extrusionOk="0" h="20119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1199"/>
                  </a:lnTo>
                  <a:lnTo>
                    <a:pt x="0" y="201199"/>
                  </a:lnTo>
                  <a:close/>
                </a:path>
              </a:pathLst>
            </a:custGeom>
            <a:solidFill>
              <a:srgbClr val="2994E5"/>
            </a:solidFill>
            <a:ln>
              <a:noFill/>
            </a:ln>
          </p:spPr>
        </p:sp>
        <p:sp>
          <p:nvSpPr>
            <p:cNvPr id="204" name="Google Shape;204;p22"/>
            <p:cNvSpPr txBox="1"/>
            <p:nvPr/>
          </p:nvSpPr>
          <p:spPr>
            <a:xfrm>
              <a:off x="0" y="-47625"/>
              <a:ext cx="812700" cy="8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5" name="Google Shape;205;p22"/>
          <p:cNvCxnSpPr/>
          <p:nvPr/>
        </p:nvCxnSpPr>
        <p:spPr>
          <a:xfrm rot="-8798">
            <a:off x="-12" y="9671276"/>
            <a:ext cx="7443224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6" name="Google Shape;2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50" y="911150"/>
            <a:ext cx="6005700" cy="6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7744975" y="4707600"/>
            <a:ext cx="8227800" cy="17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Visual and Augmented Reality can also be included to increase engagement and effectiveness of the user experience.</a:t>
            </a:r>
            <a:endParaRPr sz="29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9010750" y="7681175"/>
            <a:ext cx="8227800" cy="17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system can also be available for general consumer use to correct postures before they lead to chronic pain</a:t>
            </a:r>
            <a:endParaRPr sz="290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/>
        </p:nvSpPr>
        <p:spPr>
          <a:xfrm>
            <a:off x="9420453" y="4562475"/>
            <a:ext cx="8560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14E97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you!</a:t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-2685674" y="-1089079"/>
            <a:ext cx="6498552" cy="5518617"/>
          </a:xfrm>
          <a:custGeom>
            <a:rect b="b" l="l" r="r" t="t"/>
            <a:pathLst>
              <a:path extrusionOk="0" h="5372100" w="6326018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sp>
        <p:nvSpPr>
          <p:cNvPr id="215" name="Google Shape;215;p23"/>
          <p:cNvSpPr/>
          <p:nvPr/>
        </p:nvSpPr>
        <p:spPr>
          <a:xfrm>
            <a:off x="2714482" y="-3843465"/>
            <a:ext cx="6360484" cy="5508773"/>
          </a:xfrm>
          <a:custGeom>
            <a:rect b="b" l="l" r="r" t="t"/>
            <a:pathLst>
              <a:path extrusionOk="0" h="5372100" w="6202680">
                <a:moveTo>
                  <a:pt x="465201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2010" y="5372100"/>
                </a:lnTo>
                <a:lnTo>
                  <a:pt x="6202680" y="2686050"/>
                </a:lnTo>
                <a:lnTo>
                  <a:pt x="4652010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sp>
        <p:nvSpPr>
          <p:cNvPr id="216" name="Google Shape;216;p23"/>
          <p:cNvSpPr/>
          <p:nvPr/>
        </p:nvSpPr>
        <p:spPr>
          <a:xfrm>
            <a:off x="-2547606" y="4778227"/>
            <a:ext cx="6360484" cy="5508773"/>
          </a:xfrm>
          <a:custGeom>
            <a:rect b="b" l="l" r="r" t="t"/>
            <a:pathLst>
              <a:path extrusionOk="0" h="5372100" w="6202680">
                <a:moveTo>
                  <a:pt x="465201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2010" y="5372100"/>
                </a:lnTo>
                <a:lnTo>
                  <a:pt x="6202680" y="2686050"/>
                </a:lnTo>
                <a:lnTo>
                  <a:pt x="4652010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sp>
        <p:nvSpPr>
          <p:cNvPr id="217" name="Google Shape;217;p23"/>
          <p:cNvSpPr/>
          <p:nvPr/>
        </p:nvSpPr>
        <p:spPr>
          <a:xfrm>
            <a:off x="2645448" y="2013996"/>
            <a:ext cx="6498552" cy="5518617"/>
          </a:xfrm>
          <a:custGeom>
            <a:rect b="b" l="l" r="r" t="t"/>
            <a:pathLst>
              <a:path extrusionOk="0" h="5372100" w="6326018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cxnSp>
        <p:nvCxnSpPr>
          <p:cNvPr id="218" name="Google Shape;218;p23"/>
          <p:cNvCxnSpPr/>
          <p:nvPr/>
        </p:nvCxnSpPr>
        <p:spPr>
          <a:xfrm>
            <a:off x="10708924" y="6115242"/>
            <a:ext cx="7579076" cy="0"/>
          </a:xfrm>
          <a:prstGeom prst="straightConnector1">
            <a:avLst/>
          </a:prstGeom>
          <a:noFill/>
          <a:ln cap="flat" cmpd="sng" w="38100">
            <a:solidFill>
              <a:srgbClr val="014E9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